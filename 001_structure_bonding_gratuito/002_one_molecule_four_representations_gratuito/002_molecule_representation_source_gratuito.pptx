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64351" y="4340532"/>
            <a:ext cx="15181465" cy="2177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72"/>
              </a:lnSpc>
            </a:pPr>
            <a:r>
              <a:rPr lang="en-US" b="true" sz="16598" spc="-134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one molecule,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564207"/>
            <a:ext cx="16249650" cy="1018311"/>
            <a:chOff x="0" y="0"/>
            <a:chExt cx="21666200" cy="135774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2726203" y="-95250"/>
              <a:ext cx="8939997" cy="757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638"/>
                </a:lnSpc>
                <a:spcBef>
                  <a:spcPct val="0"/>
                </a:spcBef>
              </a:pPr>
              <a:r>
                <a:rPr lang="en-US" sz="3313">
                  <a:solidFill>
                    <a:srgbClr val="212224"/>
                  </a:solidFill>
                  <a:latin typeface="Poppins"/>
                  <a:ea typeface="Poppins"/>
                  <a:cs typeface="Poppins"/>
                  <a:sym typeface="Poppins"/>
                </a:rPr>
                <a:t>CHEM 13 - ORGANIC CHEMISTRY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5400" y="-95250"/>
              <a:ext cx="6934645" cy="757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8"/>
                </a:lnSpc>
                <a:spcBef>
                  <a:spcPct val="0"/>
                </a:spcBef>
              </a:pPr>
              <a:r>
                <a:rPr lang="en-US" sz="3313">
                  <a:solidFill>
                    <a:srgbClr val="212224"/>
                  </a:solidFill>
                  <a:latin typeface="Poppins"/>
                  <a:ea typeface="Poppins"/>
                  <a:cs typeface="Poppins"/>
                  <a:sym typeface="Poppins"/>
                </a:rPr>
                <a:t>ETHAN SETH S. GRATUITO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05284"/>
              <a:ext cx="7880529" cy="752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641"/>
                </a:lnSpc>
                <a:spcBef>
                  <a:spcPct val="0"/>
                </a:spcBef>
              </a:pPr>
              <a:r>
                <a:rPr lang="en-US" sz="3315">
                  <a:solidFill>
                    <a:srgbClr val="626262"/>
                  </a:solidFill>
                  <a:latin typeface="Poppins"/>
                  <a:ea typeface="Poppins"/>
                  <a:cs typeface="Poppins"/>
                  <a:sym typeface="Poppins"/>
                </a:rPr>
                <a:t>BS Chemical Engineering 2A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3135" y="5979633"/>
            <a:ext cx="17822681" cy="202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640"/>
              </a:lnSpc>
            </a:pPr>
            <a:r>
              <a:rPr lang="en-US" b="true" sz="15325" spc="-1241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four representations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69397" y="6916372"/>
            <a:ext cx="3079055" cy="1108460"/>
          </a:xfrm>
          <a:custGeom>
            <a:avLst/>
            <a:gdLst/>
            <a:ahLst/>
            <a:cxnLst/>
            <a:rect r="r" b="b" t="t" l="l"/>
            <a:pathLst>
              <a:path h="1108460" w="3079055">
                <a:moveTo>
                  <a:pt x="0" y="0"/>
                </a:moveTo>
                <a:lnTo>
                  <a:pt x="3079054" y="0"/>
                </a:lnTo>
                <a:lnTo>
                  <a:pt x="3079054" y="1108459"/>
                </a:lnTo>
                <a:lnTo>
                  <a:pt x="0" y="1108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54119" y="1843512"/>
            <a:ext cx="6084315" cy="2943040"/>
          </a:xfrm>
          <a:custGeom>
            <a:avLst/>
            <a:gdLst/>
            <a:ahLst/>
            <a:cxnLst/>
            <a:rect r="r" b="b" t="t" l="l"/>
            <a:pathLst>
              <a:path h="2943040" w="6084315">
                <a:moveTo>
                  <a:pt x="0" y="0"/>
                </a:moveTo>
                <a:lnTo>
                  <a:pt x="6084315" y="0"/>
                </a:lnTo>
                <a:lnTo>
                  <a:pt x="6084315" y="2943040"/>
                </a:lnTo>
                <a:lnTo>
                  <a:pt x="0" y="2943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04308" y="186191"/>
            <a:ext cx="7361955" cy="74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2"/>
              </a:lnSpc>
            </a:pPr>
            <a:r>
              <a:rPr lang="en-US" b="true" sz="5642" spc="-45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1 - Propane (C₃H₈)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80702" y="2376912"/>
            <a:ext cx="3899598" cy="190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5"/>
              </a:lnSpc>
            </a:pPr>
            <a:r>
              <a:rPr lang="en-US" b="true" sz="14601" spc="-1182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C₃H₈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529" y="6537654"/>
            <a:ext cx="5895193" cy="122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4"/>
              </a:lnSpc>
            </a:pPr>
            <a:r>
              <a:rPr lang="en-US" b="true" sz="9308" spc="-75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CH₃CH₂CH₃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60147" y="6617528"/>
            <a:ext cx="4329042" cy="1587315"/>
          </a:xfrm>
          <a:custGeom>
            <a:avLst/>
            <a:gdLst/>
            <a:ahLst/>
            <a:cxnLst/>
            <a:rect r="r" b="b" t="t" l="l"/>
            <a:pathLst>
              <a:path h="1587315" w="4329042">
                <a:moveTo>
                  <a:pt x="0" y="0"/>
                </a:moveTo>
                <a:lnTo>
                  <a:pt x="4329041" y="0"/>
                </a:lnTo>
                <a:lnTo>
                  <a:pt x="4329041" y="1587315"/>
                </a:lnTo>
                <a:lnTo>
                  <a:pt x="0" y="158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38210" y="1967337"/>
            <a:ext cx="5972915" cy="2971142"/>
          </a:xfrm>
          <a:custGeom>
            <a:avLst/>
            <a:gdLst/>
            <a:ahLst/>
            <a:cxnLst/>
            <a:rect r="r" b="b" t="t" l="l"/>
            <a:pathLst>
              <a:path h="2971142" w="5972915">
                <a:moveTo>
                  <a:pt x="0" y="0"/>
                </a:moveTo>
                <a:lnTo>
                  <a:pt x="5972915" y="0"/>
                </a:lnTo>
                <a:lnTo>
                  <a:pt x="5972915" y="2971142"/>
                </a:lnTo>
                <a:lnTo>
                  <a:pt x="0" y="2971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56683" y="242080"/>
            <a:ext cx="7065015" cy="68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7"/>
              </a:lnSpc>
            </a:pPr>
            <a:r>
              <a:rPr lang="en-US" b="true" sz="5211" spc="-42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2 - Ethanol (C₂H₆O)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802" y="2338812"/>
            <a:ext cx="6132647" cy="183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b="true" sz="14001" spc="-113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C₂H₆O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529" y="6537654"/>
            <a:ext cx="5895193" cy="122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4"/>
              </a:lnSpc>
            </a:pPr>
            <a:r>
              <a:rPr lang="en-US" b="true" sz="9308" spc="-75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CH₃CH₂OH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4989" y="6276706"/>
            <a:ext cx="2329670" cy="2267545"/>
          </a:xfrm>
          <a:custGeom>
            <a:avLst/>
            <a:gdLst/>
            <a:ahLst/>
            <a:cxnLst/>
            <a:rect r="r" b="b" t="t" l="l"/>
            <a:pathLst>
              <a:path h="2267545" w="2329670">
                <a:moveTo>
                  <a:pt x="0" y="0"/>
                </a:moveTo>
                <a:lnTo>
                  <a:pt x="2329670" y="0"/>
                </a:lnTo>
                <a:lnTo>
                  <a:pt x="2329670" y="2267545"/>
                </a:lnTo>
                <a:lnTo>
                  <a:pt x="0" y="2267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51041" y="1881612"/>
            <a:ext cx="5890470" cy="2844933"/>
          </a:xfrm>
          <a:custGeom>
            <a:avLst/>
            <a:gdLst/>
            <a:ahLst/>
            <a:cxnLst/>
            <a:rect r="r" b="b" t="t" l="l"/>
            <a:pathLst>
              <a:path h="2844933" w="5890470">
                <a:moveTo>
                  <a:pt x="0" y="0"/>
                </a:moveTo>
                <a:lnTo>
                  <a:pt x="5890470" y="0"/>
                </a:lnTo>
                <a:lnTo>
                  <a:pt x="5890470" y="2844933"/>
                </a:lnTo>
                <a:lnTo>
                  <a:pt x="0" y="2844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95661" y="213844"/>
            <a:ext cx="8096678" cy="74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</a:pPr>
            <a:r>
              <a:rPr lang="en-US" b="true" sz="5623" spc="-4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3 - Acetone </a:t>
            </a:r>
            <a:r>
              <a:rPr lang="en-US" b="true" sz="5623" spc="-45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(C₃H₆O)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802" y="2338812"/>
            <a:ext cx="6132647" cy="183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b="true" sz="14001" spc="-113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C₃H₆O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0529" y="6537654"/>
            <a:ext cx="5895193" cy="122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4"/>
              </a:lnSpc>
            </a:pPr>
            <a:r>
              <a:rPr lang="en-US" b="true" sz="9308" spc="-75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CH₃COCH₃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60884" y="5831311"/>
            <a:ext cx="3670783" cy="3222132"/>
          </a:xfrm>
          <a:custGeom>
            <a:avLst/>
            <a:gdLst/>
            <a:ahLst/>
            <a:cxnLst/>
            <a:rect r="r" b="b" t="t" l="l"/>
            <a:pathLst>
              <a:path h="3222132" w="3670783">
                <a:moveTo>
                  <a:pt x="0" y="0"/>
                </a:moveTo>
                <a:lnTo>
                  <a:pt x="3670784" y="0"/>
                </a:lnTo>
                <a:lnTo>
                  <a:pt x="3670784" y="3222132"/>
                </a:lnTo>
                <a:lnTo>
                  <a:pt x="0" y="3222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91801" y="1881612"/>
            <a:ext cx="6058458" cy="2977886"/>
          </a:xfrm>
          <a:custGeom>
            <a:avLst/>
            <a:gdLst/>
            <a:ahLst/>
            <a:cxnLst/>
            <a:rect r="r" b="b" t="t" l="l"/>
            <a:pathLst>
              <a:path h="2977886" w="6058458">
                <a:moveTo>
                  <a:pt x="0" y="0"/>
                </a:moveTo>
                <a:lnTo>
                  <a:pt x="6058458" y="0"/>
                </a:lnTo>
                <a:lnTo>
                  <a:pt x="6058458" y="2977886"/>
                </a:lnTo>
                <a:lnTo>
                  <a:pt x="0" y="297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48563" y="263943"/>
            <a:ext cx="8095338" cy="64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7"/>
              </a:lnSpc>
            </a:pPr>
            <a:r>
              <a:rPr lang="en-US" b="true" sz="4941" spc="-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4 - Acetic Acid (C₂H₄O₂ 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802" y="2338812"/>
            <a:ext cx="6132647" cy="183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b="true" sz="14001" spc="-113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C₂H₄O₂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8629" y="6537654"/>
            <a:ext cx="5895193" cy="122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4"/>
              </a:lnSpc>
            </a:pPr>
            <a:r>
              <a:rPr lang="en-US" b="true" sz="9308" spc="-75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CH₃COOH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7120" y="5831311"/>
            <a:ext cx="5378312" cy="2950602"/>
          </a:xfrm>
          <a:custGeom>
            <a:avLst/>
            <a:gdLst/>
            <a:ahLst/>
            <a:cxnLst/>
            <a:rect r="r" b="b" t="t" l="l"/>
            <a:pathLst>
              <a:path h="2950602" w="5378312">
                <a:moveTo>
                  <a:pt x="0" y="0"/>
                </a:moveTo>
                <a:lnTo>
                  <a:pt x="5378312" y="0"/>
                </a:lnTo>
                <a:lnTo>
                  <a:pt x="5378312" y="2950602"/>
                </a:lnTo>
                <a:lnTo>
                  <a:pt x="0" y="2950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23072" y="1881612"/>
            <a:ext cx="8162971" cy="2759314"/>
          </a:xfrm>
          <a:custGeom>
            <a:avLst/>
            <a:gdLst/>
            <a:ahLst/>
            <a:cxnLst/>
            <a:rect r="r" b="b" t="t" l="l"/>
            <a:pathLst>
              <a:path h="2759314" w="8162971">
                <a:moveTo>
                  <a:pt x="0" y="0"/>
                </a:moveTo>
                <a:lnTo>
                  <a:pt x="8162971" y="0"/>
                </a:lnTo>
                <a:lnTo>
                  <a:pt x="8162971" y="2759314"/>
                </a:lnTo>
                <a:lnTo>
                  <a:pt x="0" y="2759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78125" y="234704"/>
            <a:ext cx="9403542" cy="70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7"/>
              </a:lnSpc>
            </a:pPr>
            <a:r>
              <a:rPr lang="en-US" b="true" sz="5322" spc="-43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5 - Ethyl Acetate (C₄H₈O₂ 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802" y="2338812"/>
            <a:ext cx="6132647" cy="183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b="true" sz="14001" spc="-113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C₄H₈O₂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4031" y="6575366"/>
            <a:ext cx="7532461" cy="110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6"/>
              </a:lnSpc>
            </a:pPr>
            <a:r>
              <a:rPr lang="en-US" b="true" sz="8355" spc="-676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CH₃COOCH₂CH₃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46781" y="5831311"/>
            <a:ext cx="2698991" cy="3089634"/>
          </a:xfrm>
          <a:custGeom>
            <a:avLst/>
            <a:gdLst/>
            <a:ahLst/>
            <a:cxnLst/>
            <a:rect r="r" b="b" t="t" l="l"/>
            <a:pathLst>
              <a:path h="3089634" w="2698991">
                <a:moveTo>
                  <a:pt x="0" y="0"/>
                </a:moveTo>
                <a:lnTo>
                  <a:pt x="2698990" y="0"/>
                </a:lnTo>
                <a:lnTo>
                  <a:pt x="2698990" y="3089634"/>
                </a:lnTo>
                <a:lnTo>
                  <a:pt x="0" y="3089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87698" y="1737470"/>
            <a:ext cx="3417157" cy="3385071"/>
          </a:xfrm>
          <a:custGeom>
            <a:avLst/>
            <a:gdLst/>
            <a:ahLst/>
            <a:cxnLst/>
            <a:rect r="r" b="b" t="t" l="l"/>
            <a:pathLst>
              <a:path h="3385071" w="3417157">
                <a:moveTo>
                  <a:pt x="0" y="0"/>
                </a:moveTo>
                <a:lnTo>
                  <a:pt x="3417156" y="0"/>
                </a:lnTo>
                <a:lnTo>
                  <a:pt x="3417156" y="3385071"/>
                </a:lnTo>
                <a:lnTo>
                  <a:pt x="0" y="33850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08896" y="243214"/>
            <a:ext cx="8899915" cy="68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5"/>
              </a:lnSpc>
            </a:pPr>
            <a:r>
              <a:rPr lang="en-US" b="true" sz="5140" spc="-4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6 - Cyclohexane (C₆H₁₂)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802" y="2338812"/>
            <a:ext cx="6132647" cy="183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b="true" sz="14001" spc="-113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C₆H₁₂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4031" y="6575366"/>
            <a:ext cx="7532461" cy="111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6"/>
              </a:lnSpc>
            </a:pPr>
            <a:r>
              <a:rPr lang="en-US" b="true" sz="8355" spc="-676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  <a:r>
              <a:rPr lang="en-US" b="true" sz="8355" spc="-676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CH₂)₆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68748" y="5783686"/>
            <a:ext cx="1855057" cy="3246350"/>
          </a:xfrm>
          <a:custGeom>
            <a:avLst/>
            <a:gdLst/>
            <a:ahLst/>
            <a:cxnLst/>
            <a:rect r="r" b="b" t="t" l="l"/>
            <a:pathLst>
              <a:path h="3246350" w="1855057">
                <a:moveTo>
                  <a:pt x="0" y="0"/>
                </a:moveTo>
                <a:lnTo>
                  <a:pt x="1855057" y="0"/>
                </a:lnTo>
                <a:lnTo>
                  <a:pt x="1855057" y="3246350"/>
                </a:lnTo>
                <a:lnTo>
                  <a:pt x="0" y="3246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00515" y="1881612"/>
            <a:ext cx="2591522" cy="2847219"/>
          </a:xfrm>
          <a:custGeom>
            <a:avLst/>
            <a:gdLst/>
            <a:ahLst/>
            <a:cxnLst/>
            <a:rect r="r" b="b" t="t" l="l"/>
            <a:pathLst>
              <a:path h="2847219" w="2591522">
                <a:moveTo>
                  <a:pt x="0" y="0"/>
                </a:moveTo>
                <a:lnTo>
                  <a:pt x="2591522" y="0"/>
                </a:lnTo>
                <a:lnTo>
                  <a:pt x="2591522" y="2847219"/>
                </a:lnTo>
                <a:lnTo>
                  <a:pt x="0" y="2847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06194" y="229092"/>
            <a:ext cx="8929658" cy="6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5"/>
              </a:lnSpc>
            </a:pPr>
            <a:r>
              <a:rPr lang="en-US" b="true" sz="4545" spc="-3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7 - Cyclohexanone (C₆H₁₀O)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802" y="2338812"/>
            <a:ext cx="6132647" cy="183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1"/>
              </a:lnSpc>
            </a:pPr>
            <a:r>
              <a:rPr lang="en-US" b="true" sz="14001" spc="-1134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C₆H₁₀O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4031" y="6575366"/>
            <a:ext cx="7532461" cy="111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36"/>
              </a:lnSpc>
            </a:pPr>
            <a:r>
              <a:rPr lang="en-US" b="true" sz="8355" spc="-676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  <a:r>
              <a:rPr lang="en-US" b="true" sz="8355" spc="-676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CH₂)₅CO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07117" y="5955136"/>
            <a:ext cx="5578319" cy="2708146"/>
          </a:xfrm>
          <a:custGeom>
            <a:avLst/>
            <a:gdLst/>
            <a:ahLst/>
            <a:cxnLst/>
            <a:rect r="r" b="b" t="t" l="l"/>
            <a:pathLst>
              <a:path h="2708146" w="5578319">
                <a:moveTo>
                  <a:pt x="0" y="0"/>
                </a:moveTo>
                <a:lnTo>
                  <a:pt x="5578318" y="0"/>
                </a:lnTo>
                <a:lnTo>
                  <a:pt x="5578318" y="2708146"/>
                </a:lnTo>
                <a:lnTo>
                  <a:pt x="0" y="2708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1554" y="1843512"/>
            <a:ext cx="6960169" cy="3136716"/>
          </a:xfrm>
          <a:custGeom>
            <a:avLst/>
            <a:gdLst/>
            <a:ahLst/>
            <a:cxnLst/>
            <a:rect r="r" b="b" t="t" l="l"/>
            <a:pathLst>
              <a:path h="3136716" w="6960169">
                <a:moveTo>
                  <a:pt x="0" y="0"/>
                </a:moveTo>
                <a:lnTo>
                  <a:pt x="6960169" y="0"/>
                </a:lnTo>
                <a:lnTo>
                  <a:pt x="6960169" y="3136716"/>
                </a:lnTo>
                <a:lnTo>
                  <a:pt x="0" y="3136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49266" y="251020"/>
            <a:ext cx="9469654" cy="63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b="true" sz="4751" spc="-3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8 - Acetaminophen (C₈H₉NO₂)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8225" y="2337363"/>
            <a:ext cx="6737431" cy="180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05"/>
              </a:lnSpc>
            </a:pPr>
            <a:r>
              <a:rPr lang="en-US" b="true" sz="13601" spc="-1101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C₈H₉NO₂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040" y="6716573"/>
            <a:ext cx="7714452" cy="8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b="true" sz="6677" spc="-540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HO-</a:t>
            </a:r>
            <a:r>
              <a:rPr lang="en-US" b="true" sz="6677" spc="-540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C₆H₄-NHCOCH₃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27048" y="5831311"/>
            <a:ext cx="3938457" cy="3003571"/>
          </a:xfrm>
          <a:custGeom>
            <a:avLst/>
            <a:gdLst/>
            <a:ahLst/>
            <a:cxnLst/>
            <a:rect r="r" b="b" t="t" l="l"/>
            <a:pathLst>
              <a:path h="3003571" w="3938457">
                <a:moveTo>
                  <a:pt x="0" y="0"/>
                </a:moveTo>
                <a:lnTo>
                  <a:pt x="3938457" y="0"/>
                </a:lnTo>
                <a:lnTo>
                  <a:pt x="3938457" y="3003571"/>
                </a:lnTo>
                <a:lnTo>
                  <a:pt x="0" y="3003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68942" y="1743395"/>
            <a:ext cx="4105844" cy="3319816"/>
          </a:xfrm>
          <a:custGeom>
            <a:avLst/>
            <a:gdLst/>
            <a:ahLst/>
            <a:cxnLst/>
            <a:rect r="r" b="b" t="t" l="l"/>
            <a:pathLst>
              <a:path h="3319816" w="4105844">
                <a:moveTo>
                  <a:pt x="0" y="0"/>
                </a:moveTo>
                <a:lnTo>
                  <a:pt x="4105844" y="0"/>
                </a:lnTo>
                <a:lnTo>
                  <a:pt x="4105844" y="3319816"/>
                </a:lnTo>
                <a:lnTo>
                  <a:pt x="0" y="3319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07482" y="222219"/>
            <a:ext cx="7473035" cy="70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4"/>
              </a:lnSpc>
            </a:pPr>
            <a:r>
              <a:rPr lang="en-US" b="true" sz="5342" spc="-43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9 - Aspirin (C₉H₈O₄ 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8225" y="2337363"/>
            <a:ext cx="6737431" cy="180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05"/>
              </a:lnSpc>
            </a:pPr>
            <a:r>
              <a:rPr lang="en-US" b="true" sz="13601" spc="-1101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C₉H₈O₄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518" y="6735235"/>
            <a:ext cx="7714452" cy="8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b="true" sz="6677" spc="-540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CH₃CO₂-</a:t>
            </a:r>
            <a:r>
              <a:rPr lang="en-US" b="true" sz="6677" spc="-540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C₆H₄-COOH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870" y="-122479"/>
            <a:ext cx="18505740" cy="10409479"/>
          </a:xfrm>
          <a:custGeom>
            <a:avLst/>
            <a:gdLst/>
            <a:ahLst/>
            <a:cxnLst/>
            <a:rect r="r" b="b" t="t" l="l"/>
            <a:pathLst>
              <a:path h="10409479" w="18505740">
                <a:moveTo>
                  <a:pt x="0" y="0"/>
                </a:moveTo>
                <a:lnTo>
                  <a:pt x="18505740" y="0"/>
                </a:lnTo>
                <a:lnTo>
                  <a:pt x="18505740" y="10409479"/>
                </a:lnTo>
                <a:lnTo>
                  <a:pt x="0" y="10409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8" t="0" r="-6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49606" y="5793211"/>
            <a:ext cx="4293341" cy="3246706"/>
          </a:xfrm>
          <a:custGeom>
            <a:avLst/>
            <a:gdLst/>
            <a:ahLst/>
            <a:cxnLst/>
            <a:rect r="r" b="b" t="t" l="l"/>
            <a:pathLst>
              <a:path h="3246706" w="4293341">
                <a:moveTo>
                  <a:pt x="0" y="0"/>
                </a:moveTo>
                <a:lnTo>
                  <a:pt x="4293341" y="0"/>
                </a:lnTo>
                <a:lnTo>
                  <a:pt x="4293341" y="3246705"/>
                </a:lnTo>
                <a:lnTo>
                  <a:pt x="0" y="3246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78148" y="1410323"/>
            <a:ext cx="3234112" cy="3408704"/>
          </a:xfrm>
          <a:custGeom>
            <a:avLst/>
            <a:gdLst/>
            <a:ahLst/>
            <a:cxnLst/>
            <a:rect r="r" b="b" t="t" l="l"/>
            <a:pathLst>
              <a:path h="3408704" w="3234112">
                <a:moveTo>
                  <a:pt x="0" y="0"/>
                </a:moveTo>
                <a:lnTo>
                  <a:pt x="3234112" y="0"/>
                </a:lnTo>
                <a:lnTo>
                  <a:pt x="3234112" y="3408704"/>
                </a:lnTo>
                <a:lnTo>
                  <a:pt x="0" y="3408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67930" y="270639"/>
            <a:ext cx="8479780" cy="64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0"/>
              </a:lnSpc>
            </a:pPr>
            <a:r>
              <a:rPr lang="en-US" b="true" sz="4967" spc="-40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Card 10 - Caffeine (C₈H₁₀N₄O₂)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08870" y="12795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Molecular Formula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570" y="1241426"/>
            <a:ext cx="5903652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Lewis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9050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Condensed Structural Formula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9101" y="5229225"/>
            <a:ext cx="8994351" cy="6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911" indent="-489956" lvl="1">
              <a:lnSpc>
                <a:spcPts val="4039"/>
              </a:lnSpc>
              <a:buAutoNum type="arabicPeriod" startAt="1"/>
            </a:pPr>
            <a:r>
              <a:rPr lang="en-US" b="true" sz="4538" spc="-367">
                <a:solidFill>
                  <a:srgbClr val="626262"/>
                </a:solidFill>
                <a:latin typeface="Poppins Bold"/>
                <a:ea typeface="Poppins Bold"/>
                <a:cs typeface="Poppins Bold"/>
                <a:sym typeface="Poppins Bold"/>
              </a:rPr>
              <a:t> Bond-Line Formula (Ketcher)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2427" y="2346888"/>
            <a:ext cx="7667869" cy="180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05"/>
              </a:lnSpc>
            </a:pPr>
            <a:r>
              <a:rPr lang="en-US" b="true" sz="13601" spc="-1101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C₈H₁₀N₄O₂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2518" y="6735235"/>
            <a:ext cx="7714452" cy="8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b="true" sz="6677" spc="-540">
                <a:solidFill>
                  <a:srgbClr val="212224"/>
                </a:solidFill>
                <a:latin typeface="Poppins Bold"/>
                <a:ea typeface="Poppins Bold"/>
                <a:cs typeface="Poppins Bold"/>
                <a:sym typeface="Poppins Bold"/>
              </a:rPr>
              <a:t>C₈H₁₀N₄O₂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3340" y="9258300"/>
            <a:ext cx="16271027" cy="936359"/>
            <a:chOff x="0" y="0"/>
            <a:chExt cx="21694702" cy="12484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562"/>
              <a:ext cx="7129912" cy="980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5371" spc="-43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Verification Strip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43029" y="-76200"/>
              <a:ext cx="13251673" cy="1324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</a:t>
              </a: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atom count verified                  ☑ valence checked </a:t>
              </a:r>
            </a:p>
            <a:p>
              <a:pPr algn="l">
                <a:lnSpc>
                  <a:spcPts val="4047"/>
                </a:lnSpc>
                <a:spcBef>
                  <a:spcPct val="0"/>
                </a:spcBef>
              </a:pPr>
              <a:r>
                <a:rPr lang="en-US" b="true" sz="2891" spc="-23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☑  bond order checked                ☑ same connectivity confirmed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DAHYRi-EuGo</dc:identifier>
  <dcterms:modified xsi:type="dcterms:W3CDTF">2011-08-01T06:04:30Z</dcterms:modified>
  <cp:revision>1</cp:revision>
  <dc:title>002_molecule_representation_source_gratuito</dc:title>
</cp:coreProperties>
</file>